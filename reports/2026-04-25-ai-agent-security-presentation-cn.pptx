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F2743"/>
          </a:solidFill>
          <a:ln w="12700">
            <a:solidFill>
              <a:srgbClr val="0F27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594360"/>
            <a:ext cx="3611880" cy="1143000"/>
          </a:xfrm>
          <a:prstGeom prst="rect">
            <a:avLst/>
          </a:prstGeom>
          <a:solidFill>
            <a:srgbClr val="A63D40">
              <a:alpha val="92000"/>
            </a:srgbClr>
          </a:solidFill>
          <a:ln w="12700">
            <a:solidFill>
              <a:srgbClr val="A63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安全性调研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Prompt Injection 到工具执行、记忆污染与统一评测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4 篇核心论文全文首轮精读 + OWASP / NIST 治理框架整理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20456E"/>
          </a:solidFill>
          <a:ln w="12700">
            <a:solidFill>
              <a:srgbClr val="2D6A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379476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20456E"/>
          </a:solidFill>
          <a:ln w="12700">
            <a:solidFill>
              <a:srgbClr val="2D6A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379476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20456E"/>
          </a:solidFill>
          <a:ln w="12700">
            <a:solidFill>
              <a:srgbClr val="2D6A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776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核心论文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63240" y="39776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风险类别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3977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类评测目标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58200" y="868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研究工作流输出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132588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7314F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5179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EF5"/>
                </a:solidFill>
              </a:rPr>
              <a:t>IEEE 英文论文版 PDF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8200" y="22585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7314F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4505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EF5"/>
                </a:solidFill>
              </a:rPr>
              <a:t>中文汇报 PPTX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3191256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7314F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3832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EF5"/>
                </a:solidFill>
              </a:rPr>
              <a:t>单篇论文阅读笔记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58200" y="4123944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7314F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3159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EF5"/>
                </a:solidFill>
              </a:rPr>
              <a:t>主题综述与后续选题入口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1264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9D9"/>
                </a:solidFill>
              </a:rPr>
              <a:t>academic-workspace / ai-agent-security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Agent 安全问题比普通 LLM 安全更难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核心变化不在“会不会答错”，而在“会不会把错误变成外部行动”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FFDFC"/>
          </a:solidFill>
          <a:ln w="12700">
            <a:solidFill>
              <a:srgbClr val="DCCF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结构性变化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" y="1993392"/>
            <a:ext cx="201168" cy="201168"/>
          </a:xfrm>
          <a:prstGeom prst="ellipse">
            <a:avLst/>
          </a:prstGeom>
          <a:solidFill>
            <a:srgbClr val="A63D4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5681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</a:rPr>
              <a:t>输出会触发工具、代码、浏览器、文件和跨系统操作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743200"/>
            <a:ext cx="201168" cy="201168"/>
          </a:xfrm>
          <a:prstGeom prst="ellipse">
            <a:avLst/>
          </a:prstGeom>
          <a:solidFill>
            <a:srgbClr val="C48A3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066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</a:rPr>
              <a:t>错误 reasoning 会被权限放大为真实损害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3493008"/>
            <a:ext cx="201168" cy="201168"/>
          </a:xfrm>
          <a:prstGeom prst="ellipse">
            <a:avLst/>
          </a:prstGeom>
          <a:solidFill>
            <a:srgbClr val="A63D4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4564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</a:rPr>
              <a:t>长期记忆和工作流状态会把风险跨任务传播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4242816"/>
            <a:ext cx="201168" cy="201168"/>
          </a:xfrm>
          <a:prstGeom prst="ellipse">
            <a:avLst/>
          </a:prstGeom>
          <a:solidFill>
            <a:srgbClr val="C48A3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2062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</a:rPr>
              <a:t>隐藏 system prompt、planning scaffold 与 tool schema 也成为攻击面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F8FBFD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论文中的高信号数字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D40"/>
                </a:solidFill>
              </a:rPr>
              <a:t>86.1%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20025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HOUYI 在 36 个真实应用上的总体攻击成功率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157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D40"/>
                </a:solidFill>
              </a:rPr>
              <a:t>23.9%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27523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ToolEmu 中最安全 GPT-4 Safety agent 的失败比例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8D"/>
                </a:solidFill>
              </a:rPr>
              <a:t>84.30%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3502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ASB 中 Mixed Attack 的平均 ASR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215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8D"/>
                </a:solidFill>
              </a:rPr>
              <a:t>97 / 629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2519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AgentDojo 的现实任务数 / 安全测试数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问题定义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核心文献地图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 4 篇论文不是同一个问题的重复版本，而是三类不同研究目标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423160" cy="4297680"/>
          </a:xfrm>
          <a:prstGeom prst="roundRect">
            <a:avLst>
              <a:gd name="adj" fmla="val 2264"/>
            </a:avLst>
          </a:prstGeom>
          <a:solidFill>
            <a:srgbClr val="FDF4F4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Prompt Injection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057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黑盒应用注入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解释 instructions / data 边界为什么会失效，是后续 agent hijacking 的前史。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977640"/>
            <a:ext cx="1920240" cy="45720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回答：如何注入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1508760"/>
            <a:ext cx="2423160" cy="4297680"/>
          </a:xfrm>
          <a:prstGeom prst="roundRect">
            <a:avLst>
              <a:gd name="adj" fmla="val 2264"/>
            </a:avLst>
          </a:prstGeom>
          <a:solidFill>
            <a:srgbClr val="F4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783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ToolEmu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2057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长尾风险发现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76472" y="25146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关注高后果工具误执行，不要求必须存在攻击者。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76472" y="3977640"/>
            <a:ext cx="192024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回答：如何发现危险失败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1508760"/>
            <a:ext cx="2423160" cy="4297680"/>
          </a:xfrm>
          <a:prstGeom prst="roundRect">
            <a:avLst>
              <a:gd name="adj" fmla="val 2264"/>
            </a:avLst>
          </a:prstGeom>
          <a:solidFill>
            <a:srgbClr val="F4F7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783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AgentDojo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8272" y="2057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动态对抗环境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48272" y="25146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在状态化工具环境里同时评估 utility 与 targeted attack。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48272" y="3977640"/>
            <a:ext cx="1920240" cy="45720"/>
          </a:xfrm>
          <a:prstGeom prst="rect">
            <a:avLst/>
          </a:prstGeom>
          <a:solidFill>
            <a:srgbClr val="2D6A8D"/>
          </a:solidFill>
          <a:ln w="12700">
            <a:solidFill>
              <a:srgbClr val="2D6A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回答：如何在动态环境测攻防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555480" y="1508760"/>
            <a:ext cx="2423160" cy="4297680"/>
          </a:xfrm>
          <a:prstGeom prst="roundRect">
            <a:avLst>
              <a:gd name="adj" fmla="val 2264"/>
            </a:avLst>
          </a:prstGeom>
          <a:solidFill>
            <a:srgbClr val="F7F4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0072" y="1783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ASB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20072" y="2057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统一多攻击面基准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20072" y="25146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把 system prompt、memory、planning、tool 等阶段统一进 benchmark。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20072" y="3977640"/>
            <a:ext cx="1920240" cy="45720"/>
          </a:xfrm>
          <a:prstGeom prst="rect">
            <a:avLst/>
          </a:prstGeom>
          <a:solidFill>
            <a:srgbClr val="6D4C9C"/>
          </a:solidFill>
          <a:ln w="12700">
            <a:solidFill>
              <a:srgbClr val="6D4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0072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回答：如何统一 attack surface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文献脉络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当前可用的 6 类风险框架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建议把技术风险和治理风险放在同一张图里，而不是只盯 Prompt Injection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0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D40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Goal Hijacking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8745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恶意内容改变目标、优先级与执行顺序。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600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D40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68312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Tool Misuse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18745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错误工具、错误参数、危险假设与过度自主执行。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81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8D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44752" y="30540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Privilege Amplification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44752" y="33558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同样的推理错误在高权限环境中被放大。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081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8D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68312" y="30540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Memory Poisoning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长期记忆、RAG 与历史计划污染后续任务。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79976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628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44752" y="45354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Hidden 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44752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system prompt、planning scaffold 与 PoT backdoor。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379976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5628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68312" y="45354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Governance Gap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68312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审批、审计、回滚、追责与恢复机制不足。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风险分类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三类评测目标：不要混成一个“benchmark”问题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同样都在测 agent security，但回答的问题并不相同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4114800"/>
          </a:xfrm>
          <a:prstGeom prst="roundRect">
            <a:avLst>
              <a:gd name="adj" fmla="val 1538"/>
            </a:avLst>
          </a:prstGeom>
          <a:solidFill>
            <a:srgbClr val="F4FBFC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554480"/>
            <a:ext cx="3566160" cy="4114800"/>
          </a:xfrm>
          <a:prstGeom prst="roundRect">
            <a:avLst>
              <a:gd name="adj" fmla="val 1538"/>
            </a:avLst>
          </a:prstGeom>
          <a:solidFill>
            <a:srgbClr val="F4F7FB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1538"/>
            </a:avLst>
          </a:prstGeom>
          <a:solidFill>
            <a:srgbClr val="F7F4FC"/>
          </a:solidFill>
          <a:ln w="12700">
            <a:solidFill>
              <a:srgbClr val="E2D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长尾风险发现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39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ToolEmu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578608"/>
            <a:ext cx="164592" cy="164592"/>
          </a:xfrm>
          <a:prstGeom prst="ellipse">
            <a:avLst/>
          </a:prstGeom>
          <a:solidFill>
            <a:srgbClr val="0E74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5420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目标：尽可能低成本找到会出事的失败模式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68680" y="3364992"/>
            <a:ext cx="164592" cy="164592"/>
          </a:xfrm>
          <a:prstGeom prst="ellipse">
            <a:avLst/>
          </a:prstGeom>
          <a:solidFill>
            <a:srgbClr val="0E74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328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适合：高后果工具、歧义指令、误操作场景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68680" y="4151376"/>
            <a:ext cx="164592" cy="164592"/>
          </a:xfrm>
          <a:prstGeom prst="ellipse">
            <a:avLst/>
          </a:prstGeom>
          <a:solidFill>
            <a:srgbClr val="0E74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1148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不足：LM 仿真与真实环境仍有差距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动态对抗评测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139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AgentDojo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578608"/>
            <a:ext cx="164592" cy="164592"/>
          </a:xfrm>
          <a:prstGeom prst="ellipse">
            <a:avLst/>
          </a:prstGeom>
          <a:solidFill>
            <a:srgbClr val="2D6A8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420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目标：在状态化工具环境里同时看 utility 与 attack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572000" y="3364992"/>
            <a:ext cx="164592" cy="164592"/>
          </a:xfrm>
          <a:prstGeom prst="ellipse">
            <a:avLst/>
          </a:prstGeom>
          <a:solidFill>
            <a:srgbClr val="2D6A8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328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适合：tool output 注入、环境转移、对抗评测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572000" y="4151376"/>
            <a:ext cx="164592" cy="164592"/>
          </a:xfrm>
          <a:prstGeom prst="ellipse">
            <a:avLst/>
          </a:prstGeom>
          <a:solidFill>
            <a:srgbClr val="2D6A8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41148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不足：攻击面仍偏 prompt injection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2753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统一多攻击面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2139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ASB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75320" y="2578608"/>
            <a:ext cx="164592" cy="164592"/>
          </a:xfrm>
          <a:prstGeom prst="ellipse">
            <a:avLst/>
          </a:prstGeom>
          <a:solidFill>
            <a:srgbClr val="6D4C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25420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目标：把 system prompt / memory / planning / tool 放进统一 benchmark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275320" y="3364992"/>
            <a:ext cx="164592" cy="164592"/>
          </a:xfrm>
          <a:prstGeom prst="ellipse">
            <a:avLst/>
          </a:prstGeom>
          <a:solidFill>
            <a:srgbClr val="6D4C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3328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适合：建立 taxonomy 与跨攻击面讨论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275320" y="4151376"/>
            <a:ext cx="164592" cy="164592"/>
          </a:xfrm>
          <a:prstGeom prst="ellipse">
            <a:avLst/>
          </a:prstGeom>
          <a:solidFill>
            <a:srgbClr val="6D4C9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411480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不足：异质攻击被同一套指标聚合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评测方法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当前最值得继续补的 4 个缺口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下一批阅读不应继续重复 benchmark，而应补机制与治理空白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983480" cy="1463040"/>
          </a:xfrm>
          <a:prstGeom prst="roundRect">
            <a:avLst>
              <a:gd name="adj" fmla="val 3750"/>
            </a:avLst>
          </a:prstGeom>
          <a:solidFill>
            <a:srgbClr val="FFFDFC"/>
          </a:solidFill>
          <a:ln w="12700">
            <a:solidFill>
              <a:srgbClr val="DCC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01368"/>
            <a:ext cx="137160" cy="1051560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379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Memory Poisoning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167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7083"/>
                </a:solidFill>
              </a:rPr>
              <a:t>现有工作已纳入 benchmark，但真实部署攻击与防御仍不成熟。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4983480" cy="1463040"/>
          </a:xfrm>
          <a:prstGeom prst="roundRect">
            <a:avLst>
              <a:gd name="adj" fmla="val 3750"/>
            </a:avLst>
          </a:prstGeom>
          <a:solidFill>
            <a:srgbClr val="FFFDFC"/>
          </a:solidFill>
          <a:ln w="12700">
            <a:solidFill>
              <a:srgbClr val="DC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721608"/>
            <a:ext cx="137160" cy="1051560"/>
          </a:xfrm>
          <a:prstGeom prst="rect">
            <a:avLst/>
          </a:prstGeom>
          <a:solidFill>
            <a:srgbClr val="2D6A8D"/>
          </a:solidFill>
          <a:ln w="12700">
            <a:solidFill>
              <a:srgbClr val="2D6A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758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Multi-Agent / MCP Tool Chain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7083"/>
                </a:solidFill>
              </a:rPr>
              <a:t>多代理协作、工具协议与 skill / plugin 供应链风险研究不足。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5989320" y="1600200"/>
            <a:ext cx="4983480" cy="1463040"/>
          </a:xfrm>
          <a:prstGeom prst="roundRect">
            <a:avLst>
              <a:gd name="adj" fmla="val 3750"/>
            </a:avLst>
          </a:prstGeom>
          <a:solidFill>
            <a:srgbClr val="FFFDFC"/>
          </a:solidFill>
          <a:ln w="12700">
            <a:solidFill>
              <a:srgbClr val="DC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01368"/>
            <a:ext cx="137160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379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Approval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167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7083"/>
                </a:solidFill>
              </a:rPr>
              <a:t>什么时候需要人工确认、确认粒度是什么、如何降低确认疲劳，仍缺研究。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5989320" y="3520440"/>
            <a:ext cx="4983480" cy="1463040"/>
          </a:xfrm>
          <a:prstGeom prst="roundRect">
            <a:avLst>
              <a:gd name="adj" fmla="val 3750"/>
            </a:avLst>
          </a:prstGeom>
          <a:solidFill>
            <a:srgbClr val="FFFDFC"/>
          </a:solidFill>
          <a:ln w="12700">
            <a:solidFill>
              <a:srgbClr val="DC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721608"/>
            <a:ext cx="137160" cy="1051560"/>
          </a:xfrm>
          <a:prstGeom prst="rect">
            <a:avLst/>
          </a:prstGeom>
          <a:solidFill>
            <a:srgbClr val="C48A3A"/>
          </a:solidFill>
          <a:ln w="12700">
            <a:solidFill>
              <a:srgbClr val="C48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758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Audit / Recovery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B7083"/>
                </a:solidFill>
              </a:rPr>
              <a:t>回滚、追责、事后分析与组织级恢复机制，尚未进入主流指标。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研究缺口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建议的后续研究推进顺序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按照“先补框架、再补机制、最后做方案”的顺序推进更稳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7280" y="3822192"/>
            <a:ext cx="9692640" cy="0"/>
          </a:xfrm>
          <a:prstGeom prst="line">
            <a:avLst/>
          </a:prstGeom>
          <a:noFill/>
          <a:ln w="254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3456432"/>
            <a:ext cx="530352" cy="530352"/>
          </a:xfrm>
          <a:prstGeom prst="ellipse">
            <a:avLst/>
          </a:prstGeom>
          <a:solidFill>
            <a:srgbClr val="A63D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8FBFD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083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057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对齐治理框架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3"/>
                </a:solidFill>
              </a:rPr>
              <a:t>用 OWASP / NIST 把技术风险映射到组织控制语言。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160520" y="3456432"/>
            <a:ext cx="530352" cy="530352"/>
          </a:xfrm>
          <a:prstGeom prst="ellipse">
            <a:avLst/>
          </a:prstGeom>
          <a:solidFill>
            <a:srgbClr val="2D6A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60020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8FBFD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083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2057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补 2025-2026 新论文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3"/>
                </a:solidFill>
              </a:rPr>
              <a:t>重点补 memory poisoning、multi-agent、MCP / tool chain。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903720" y="3456432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8FBFD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083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2057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重写 related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3"/>
                </a:solidFill>
              </a:rPr>
              <a:t>把 4 篇核心论文改成投稿式英文 related work。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646920" y="3456432"/>
            <a:ext cx="530352" cy="530352"/>
          </a:xfrm>
          <a:prstGeom prst="ellipse">
            <a:avLst/>
          </a:prstGeom>
          <a:solidFill>
            <a:srgbClr val="C48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60020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8FBFD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083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17152" y="2057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提出自己的评测或治理方案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17152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083"/>
                </a:solidFill>
              </a:rPr>
              <a:t>在权限、审批、记忆与审计之间选一个明确切口。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097280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648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推进顺序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0996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结论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1"/>
                </a:solidFill>
              </a:rPr>
              <a:t>AI Agent 安全不是单一 benchmark 问题，而是由权限、工具、记忆、执行与治理共同构成的系统问题。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" y="2103120"/>
            <a:ext cx="146304" cy="146304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025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Prompt Injection 解释起点，但不足以覆盖全部 agent 风险。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907792"/>
            <a:ext cx="146304" cy="146304"/>
          </a:xfrm>
          <a:prstGeom prst="rect">
            <a:avLst/>
          </a:prstGeom>
          <a:solidFill>
            <a:srgbClr val="C48A3A"/>
          </a:solidFill>
          <a:ln w="12700">
            <a:solidFill>
              <a:srgbClr val="C48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072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ToolEmu、AgentDojo、ASB 分别回答长尾失败、动态攻防、多攻击面统一三个问题。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" y="3712464"/>
            <a:ext cx="146304" cy="146304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6118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下一步最该补的是 memory poisoning、multi-agent / MCP tool chain 与 approval design。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" y="4517136"/>
            <a:ext cx="146304" cy="146304"/>
          </a:xfrm>
          <a:prstGeom prst="rect">
            <a:avLst/>
          </a:prstGeom>
          <a:solidFill>
            <a:srgbClr val="C48A3A"/>
          </a:solidFill>
          <a:ln w="12700">
            <a:solidFill>
              <a:srgbClr val="C4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4165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研究输出已经具备：英文 IEEE 论文稿 + 中文汇报 PPTX + 阅读笔记与主题综述。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62727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D6"/>
                </a:solidFill>
              </a:rPr>
              <a:t>academic-workspace / reports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2544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academic-workspace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安全性调研</dc:title>
  <dc:subject>AI Agent 安全性调研</dc:subject>
  <dc:creator>OpenAI Codex</dc:creator>
  <cp:lastModifiedBy>OpenAI Codex</cp:lastModifiedBy>
  <cp:revision>1</cp:revision>
  <dcterms:created xsi:type="dcterms:W3CDTF">2026-04-25T00:38:08Z</dcterms:created>
  <dcterms:modified xsi:type="dcterms:W3CDTF">2026-04-25T00:38:08Z</dcterms:modified>
</cp:coreProperties>
</file>